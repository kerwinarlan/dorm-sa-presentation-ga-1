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8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13.png"/><Relationship Id="rId7" Type="http://schemas.openxmlformats.org/officeDocument/2006/relationships/image" Target="../media/image14.png"/><Relationship Id="rId8" Type="http://schemas.openxmlformats.org/officeDocument/2006/relationships/image" Target="../media/image1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image" Target="../media/image19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C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371600" y="1097280"/>
            <a:ext cx="9448495" cy="4663440"/>
          </a:xfrm>
          <a:prstGeom prst="rect">
            <a:avLst/>
          </a:prstGeom>
          <a:solidFill>
            <a:srgbClr val="8B1C1C"/>
          </a:solidFill>
          <a:ln w="381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FBC02D"/>
                </a:solidFill>
              </a:defRPr>
            </a:pPr>
            <a:r>
              <a:t>SAMPAGUITA RESIDENCE HALL</a:t>
            </a:r>
          </a:p>
          <a:p>
            <a:br/>
            <a:pPr algn="ctr">
              <a:defRPr sz="5400" b="1">
                <a:solidFill>
                  <a:srgbClr val="FFFFFF"/>
                </a:solidFill>
              </a:defRPr>
            </a:pPr>
            <a:r>
              <a:t>GENERAL ASSEMBLY</a:t>
            </a:r>
          </a:p>
          <a:p>
            <a:pPr algn="ctr">
              <a:defRPr sz="3600" b="1">
                <a:solidFill>
                  <a:srgbClr val="FBC02D"/>
                </a:solidFill>
              </a:defRPr>
            </a:pPr>
            <a:r>
              <a:t>PLAN OF ACTIVITIES</a:t>
            </a:r>
          </a:p>
          <a:p>
            <a:br/>
            <a:pPr algn="ctr">
              <a:defRPr sz="2000">
                <a:solidFill>
                  <a:srgbClr val="FFFFFF"/>
                </a:solidFill>
              </a:defRPr>
            </a:pPr>
            <a:r>
              <a:t>First Semester, A.Y. 2026-2027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C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457200"/>
            <a:ext cx="2560320" cy="411480"/>
          </a:xfrm>
          <a:prstGeom prst="rect">
            <a:avLst/>
          </a:prstGeom>
          <a:solidFill>
            <a:srgbClr val="D32F2F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ADMINISTRATION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103628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DORM MANAGERS &amp; HOUSEPARENT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828800"/>
            <a:ext cx="3200400" cy="4389120"/>
          </a:xfrm>
          <a:prstGeom prst="rect">
            <a:avLst/>
          </a:prstGeom>
          <a:solidFill>
            <a:srgbClr val="FFFFFF"/>
          </a:solidFill>
          <a:ln w="38100">
            <a:solidFill>
              <a:srgbClr val="FBC0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D32F2F"/>
                </a:solidFill>
              </a:defRPr>
            </a:pPr>
            <a:br/>
            <a:br/>
            <a:br/>
            <a:br/>
            <a:br/>
            <a:br/>
            <a:br/>
            <a:br/>
            <a:r>
              <a:t>DORM MANAGER</a:t>
            </a:r>
          </a:p>
          <a:p>
            <a:pPr algn="ctr">
              <a:defRPr sz="2400" b="1">
                <a:solidFill>
                  <a:srgbClr val="121212"/>
                </a:solidFill>
              </a:defRPr>
            </a:pPr>
            <a:r>
              <a:t>Ma'am Len</a:t>
            </a:r>
          </a:p>
        </p:txBody>
      </p:sp>
      <p:pic>
        <p:nvPicPr>
          <p:cNvPr id="6" name="Picture 5" descr="maam-l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2011680"/>
            <a:ext cx="2286000" cy="237744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4480560" y="1828800"/>
            <a:ext cx="3200400" cy="4389120"/>
          </a:xfrm>
          <a:prstGeom prst="rect">
            <a:avLst/>
          </a:prstGeom>
          <a:solidFill>
            <a:srgbClr val="FFFFFF"/>
          </a:solidFill>
          <a:ln w="38100">
            <a:solidFill>
              <a:srgbClr val="FBC0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D32F2F"/>
                </a:solidFill>
              </a:defRPr>
            </a:pPr>
            <a:br/>
            <a:br/>
            <a:br/>
            <a:br/>
            <a:br/>
            <a:br/>
            <a:br/>
            <a:br/>
            <a:r>
              <a:t>OIC / DORM MANAGER</a:t>
            </a:r>
          </a:p>
          <a:p>
            <a:pPr algn="ctr">
              <a:defRPr sz="2400" b="1">
                <a:solidFill>
                  <a:srgbClr val="121212"/>
                </a:solidFill>
              </a:defRPr>
            </a:pPr>
            <a:r>
              <a:t>Ma'am Zay</a:t>
            </a:r>
          </a:p>
        </p:txBody>
      </p:sp>
      <p:pic>
        <p:nvPicPr>
          <p:cNvPr id="8" name="Picture 7" descr="maam-za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7760" y="2011680"/>
            <a:ext cx="2286000" cy="237744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8046720" y="1828800"/>
            <a:ext cx="3200400" cy="4389120"/>
          </a:xfrm>
          <a:prstGeom prst="rect">
            <a:avLst/>
          </a:prstGeom>
          <a:solidFill>
            <a:srgbClr val="FFFFFF"/>
          </a:solidFill>
          <a:ln w="38100">
            <a:solidFill>
              <a:srgbClr val="FBC0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D32F2F"/>
                </a:solidFill>
              </a:defRPr>
            </a:pPr>
            <a:br/>
            <a:br/>
            <a:br/>
            <a:br/>
            <a:br/>
            <a:br/>
            <a:br/>
            <a:br/>
            <a:r>
              <a:t>HOUSEPARENT</a:t>
            </a:r>
          </a:p>
          <a:p>
            <a:pPr algn="ctr">
              <a:defRPr sz="2400" b="1">
                <a:solidFill>
                  <a:srgbClr val="121212"/>
                </a:solidFill>
              </a:defRPr>
            </a:pPr>
            <a:r>
              <a:t>Ma'am Gen</a:t>
            </a:r>
          </a:p>
        </p:txBody>
      </p:sp>
      <p:pic>
        <p:nvPicPr>
          <p:cNvPr id="10" name="Picture 9" descr="maam-ge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03920" y="2011680"/>
            <a:ext cx="2286000" cy="237744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C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457200"/>
            <a:ext cx="2560320" cy="411480"/>
          </a:xfrm>
          <a:prstGeom prst="rect">
            <a:avLst/>
          </a:prstGeom>
          <a:solidFill>
            <a:srgbClr val="D32F2F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YOUR SA TEAM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103628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STUDENT ASSISTANTS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828800"/>
            <a:ext cx="1920240" cy="4389120"/>
          </a:xfrm>
          <a:prstGeom prst="rect">
            <a:avLst/>
          </a:prstGeom>
          <a:solidFill>
            <a:srgbClr val="FFFFFF"/>
          </a:solidFill>
          <a:ln w="38100">
            <a:solidFill>
              <a:srgbClr val="1212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D32F2F"/>
                </a:solidFill>
              </a:defRPr>
            </a:pPr>
            <a:br/>
            <a:br/>
            <a:br/>
            <a:br/>
            <a:br/>
            <a:br/>
            <a:br/>
            <a:r>
              <a:t>SA</a:t>
            </a:r>
          </a:p>
          <a:p>
            <a:pPr algn="ctr">
              <a:defRPr sz="1800" b="1">
                <a:solidFill>
                  <a:srgbClr val="121212"/>
                </a:solidFill>
              </a:defRPr>
            </a:pPr>
            <a:r>
              <a:t>Yelsah</a:t>
            </a:r>
          </a:p>
        </p:txBody>
      </p:sp>
      <p:pic>
        <p:nvPicPr>
          <p:cNvPr id="6" name="Picture 5" descr="yelsa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2011680"/>
            <a:ext cx="1645920" cy="201168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2926080" y="1828800"/>
            <a:ext cx="1920240" cy="4389120"/>
          </a:xfrm>
          <a:prstGeom prst="rect">
            <a:avLst/>
          </a:prstGeom>
          <a:solidFill>
            <a:srgbClr val="FFFFFF"/>
          </a:solidFill>
          <a:ln w="38100">
            <a:solidFill>
              <a:srgbClr val="1212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D32F2F"/>
                </a:solidFill>
              </a:defRPr>
            </a:pPr>
            <a:br/>
            <a:br/>
            <a:br/>
            <a:br/>
            <a:br/>
            <a:br/>
            <a:br/>
            <a:r>
              <a:t>SA</a:t>
            </a:r>
          </a:p>
          <a:p>
            <a:pPr algn="ctr">
              <a:defRPr sz="1800" b="1">
                <a:solidFill>
                  <a:srgbClr val="121212"/>
                </a:solidFill>
              </a:defRPr>
            </a:pPr>
            <a:r>
              <a:t>Rachel</a:t>
            </a:r>
          </a:p>
        </p:txBody>
      </p:sp>
      <p:pic>
        <p:nvPicPr>
          <p:cNvPr id="8" name="Picture 7" descr="rach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63240" y="2011680"/>
            <a:ext cx="1645920" cy="201168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5120640" y="1828800"/>
            <a:ext cx="1920240" cy="4389120"/>
          </a:xfrm>
          <a:prstGeom prst="rect">
            <a:avLst/>
          </a:prstGeom>
          <a:solidFill>
            <a:srgbClr val="FFFFFF"/>
          </a:solidFill>
          <a:ln w="38100">
            <a:solidFill>
              <a:srgbClr val="1212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D32F2F"/>
                </a:solidFill>
              </a:defRPr>
            </a:pPr>
            <a:br/>
            <a:br/>
            <a:br/>
            <a:br/>
            <a:br/>
            <a:br/>
            <a:br/>
            <a:r>
              <a:t>SA</a:t>
            </a:r>
          </a:p>
          <a:p>
            <a:pPr algn="ctr">
              <a:defRPr sz="1800" b="1">
                <a:solidFill>
                  <a:srgbClr val="121212"/>
                </a:solidFill>
              </a:defRPr>
            </a:pPr>
            <a:r>
              <a:t>Jose</a:t>
            </a:r>
          </a:p>
        </p:txBody>
      </p:sp>
      <p:pic>
        <p:nvPicPr>
          <p:cNvPr id="10" name="Picture 9" descr="jos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57800" y="2011680"/>
            <a:ext cx="1645920" cy="201168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7315199" y="1828800"/>
            <a:ext cx="1920240" cy="4389120"/>
          </a:xfrm>
          <a:prstGeom prst="rect">
            <a:avLst/>
          </a:prstGeom>
          <a:solidFill>
            <a:srgbClr val="FFFFFF"/>
          </a:solidFill>
          <a:ln w="38100">
            <a:solidFill>
              <a:srgbClr val="D32F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D32F2F"/>
                </a:solidFill>
              </a:defRPr>
            </a:pPr>
            <a:br/>
            <a:br/>
            <a:br/>
            <a:br/>
            <a:br/>
            <a:br/>
            <a:br/>
            <a:r>
              <a:t>SA</a:t>
            </a:r>
          </a:p>
          <a:p>
            <a:pPr algn="ctr">
              <a:defRPr sz="1800" b="1">
                <a:solidFill>
                  <a:srgbClr val="121212"/>
                </a:solidFill>
              </a:defRPr>
            </a:pPr>
            <a:r>
              <a:t>Ash (GA1 Head)</a:t>
            </a:r>
          </a:p>
        </p:txBody>
      </p:sp>
      <p:pic>
        <p:nvPicPr>
          <p:cNvPr id="12" name="Picture 11" descr="ash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52359" y="2011680"/>
            <a:ext cx="1645920" cy="2011680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9509760" y="1828800"/>
            <a:ext cx="1920240" cy="4389120"/>
          </a:xfrm>
          <a:prstGeom prst="rect">
            <a:avLst/>
          </a:prstGeom>
          <a:solidFill>
            <a:srgbClr val="FFFFFF"/>
          </a:solidFill>
          <a:ln w="38100">
            <a:solidFill>
              <a:srgbClr val="1212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D32F2F"/>
                </a:solidFill>
              </a:defRPr>
            </a:pPr>
            <a:br/>
            <a:br/>
            <a:br/>
            <a:br/>
            <a:br/>
            <a:br/>
            <a:br/>
            <a:r>
              <a:t>SA</a:t>
            </a:r>
          </a:p>
          <a:p>
            <a:pPr algn="ctr">
              <a:defRPr sz="1800" b="1">
                <a:solidFill>
                  <a:srgbClr val="121212"/>
                </a:solidFill>
              </a:defRPr>
            </a:pPr>
            <a:r>
              <a:t>Matt</a:t>
            </a:r>
          </a:p>
        </p:txBody>
      </p:sp>
      <p:pic>
        <p:nvPicPr>
          <p:cNvPr id="14" name="Picture 13" descr="mat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46920" y="2011680"/>
            <a:ext cx="164592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C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457200"/>
            <a:ext cx="2560320" cy="411480"/>
          </a:xfrm>
          <a:prstGeom prst="rect">
            <a:avLst/>
          </a:prstGeom>
          <a:solidFill>
            <a:srgbClr val="D32F2F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SUPPORT TEAM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103628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OFFICE &amp; MAINTENANCE STAFF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011680"/>
            <a:ext cx="1463040" cy="3840480"/>
          </a:xfrm>
          <a:prstGeom prst="rect">
            <a:avLst/>
          </a:prstGeom>
          <a:solidFill>
            <a:srgbClr val="FFFFFF"/>
          </a:solidFill>
          <a:ln w="25400">
            <a:solidFill>
              <a:srgbClr val="1212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21212"/>
                </a:solidFill>
              </a:defRPr>
            </a:pPr>
            <a:br/>
            <a:br/>
            <a:br/>
            <a:br/>
            <a:br/>
            <a:br/>
            <a:br/>
            <a:r>
              <a:t>Ate Rhea</a:t>
            </a:r>
          </a:p>
        </p:txBody>
      </p:sp>
      <p:pic>
        <p:nvPicPr>
          <p:cNvPr id="6" name="Picture 5" descr="ate-rhe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194560"/>
            <a:ext cx="1280160" cy="164592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2148840" y="2011680"/>
            <a:ext cx="1463040" cy="3840480"/>
          </a:xfrm>
          <a:prstGeom prst="rect">
            <a:avLst/>
          </a:prstGeom>
          <a:solidFill>
            <a:srgbClr val="FFFFFF"/>
          </a:solidFill>
          <a:ln w="25400">
            <a:solidFill>
              <a:srgbClr val="1212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21212"/>
                </a:solidFill>
              </a:defRPr>
            </a:pPr>
            <a:br/>
            <a:br/>
            <a:br/>
            <a:br/>
            <a:br/>
            <a:br/>
            <a:br/>
            <a:r>
              <a:t>Ate December</a:t>
            </a:r>
          </a:p>
        </p:txBody>
      </p:sp>
      <p:pic>
        <p:nvPicPr>
          <p:cNvPr id="8" name="Picture 7" descr="ate-decemb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40280" y="2194560"/>
            <a:ext cx="1280160" cy="164592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3749039" y="2011680"/>
            <a:ext cx="1463040" cy="3840480"/>
          </a:xfrm>
          <a:prstGeom prst="rect">
            <a:avLst/>
          </a:prstGeom>
          <a:solidFill>
            <a:srgbClr val="FFFFFF"/>
          </a:solidFill>
          <a:ln w="25400">
            <a:solidFill>
              <a:srgbClr val="1212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21212"/>
                </a:solidFill>
              </a:defRPr>
            </a:pPr>
            <a:br/>
            <a:br/>
            <a:br/>
            <a:br/>
            <a:br/>
            <a:br/>
            <a:br/>
            <a:r>
              <a:t>Ate Feny</a:t>
            </a:r>
          </a:p>
        </p:txBody>
      </p:sp>
      <p:pic>
        <p:nvPicPr>
          <p:cNvPr id="10" name="Picture 9" descr="ate-fen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40479" y="2194560"/>
            <a:ext cx="1280160" cy="164592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5349240" y="2011680"/>
            <a:ext cx="1463040" cy="3840480"/>
          </a:xfrm>
          <a:prstGeom prst="rect">
            <a:avLst/>
          </a:prstGeom>
          <a:solidFill>
            <a:srgbClr val="FFFFFF"/>
          </a:solidFill>
          <a:ln w="25400">
            <a:solidFill>
              <a:srgbClr val="1212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21212"/>
                </a:solidFill>
              </a:defRPr>
            </a:pPr>
            <a:br/>
            <a:br/>
            <a:br/>
            <a:br/>
            <a:br/>
            <a:br/>
            <a:br/>
            <a:r>
              <a:t>Ate Tere</a:t>
            </a:r>
          </a:p>
        </p:txBody>
      </p:sp>
      <p:pic>
        <p:nvPicPr>
          <p:cNvPr id="12" name="Picture 11" descr="ate-ter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40680" y="2194560"/>
            <a:ext cx="1280160" cy="1645920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6949440" y="2011680"/>
            <a:ext cx="1463040" cy="3840480"/>
          </a:xfrm>
          <a:prstGeom prst="rect">
            <a:avLst/>
          </a:prstGeom>
          <a:solidFill>
            <a:srgbClr val="FFFFFF"/>
          </a:solidFill>
          <a:ln w="25400">
            <a:solidFill>
              <a:srgbClr val="1212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21212"/>
                </a:solidFill>
              </a:defRPr>
            </a:pPr>
            <a:br/>
            <a:br/>
            <a:br/>
            <a:br/>
            <a:br/>
            <a:br/>
            <a:br/>
            <a:r>
              <a:t>Kuya Bagyo</a:t>
            </a:r>
          </a:p>
        </p:txBody>
      </p:sp>
      <p:pic>
        <p:nvPicPr>
          <p:cNvPr id="14" name="Picture 13" descr="kuya-bagyo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40880" y="2194560"/>
            <a:ext cx="1280160" cy="1645920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8549640" y="2011680"/>
            <a:ext cx="1463040" cy="3840480"/>
          </a:xfrm>
          <a:prstGeom prst="rect">
            <a:avLst/>
          </a:prstGeom>
          <a:solidFill>
            <a:srgbClr val="FFFFFF"/>
          </a:solidFill>
          <a:ln w="25400">
            <a:solidFill>
              <a:srgbClr val="1212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21212"/>
                </a:solidFill>
              </a:defRPr>
            </a:pPr>
            <a:br/>
            <a:br/>
            <a:br/>
            <a:br/>
            <a:br/>
            <a:br/>
            <a:br/>
            <a:r>
              <a:t>Kuya Dani</a:t>
            </a:r>
          </a:p>
        </p:txBody>
      </p:sp>
      <p:pic>
        <p:nvPicPr>
          <p:cNvPr id="16" name="Picture 15" descr="kuya-dani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41080" y="2194560"/>
            <a:ext cx="1280160" cy="164592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10149840" y="2011680"/>
            <a:ext cx="1463040" cy="3840480"/>
          </a:xfrm>
          <a:prstGeom prst="rect">
            <a:avLst/>
          </a:prstGeom>
          <a:solidFill>
            <a:srgbClr val="FFFFFF"/>
          </a:solidFill>
          <a:ln w="25400">
            <a:solidFill>
              <a:srgbClr val="1212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21212"/>
                </a:solidFill>
              </a:defRPr>
            </a:pPr>
            <a:br/>
            <a:br/>
            <a:br/>
            <a:br/>
            <a:br/>
            <a:br/>
            <a:br/>
            <a:r>
              <a:t>Kuya Emong</a:t>
            </a:r>
          </a:p>
        </p:txBody>
      </p:sp>
      <p:pic>
        <p:nvPicPr>
          <p:cNvPr id="18" name="Picture 17" descr="kuya-emong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241280" y="2194560"/>
            <a:ext cx="1280160" cy="16459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C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457200"/>
            <a:ext cx="2560320" cy="411480"/>
          </a:xfrm>
          <a:prstGeom prst="rect">
            <a:avLst/>
          </a:prstGeom>
          <a:solidFill>
            <a:srgbClr val="D32F2F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PROTECTORS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103628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SECURITY PERSONNEL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828800"/>
            <a:ext cx="2377440" cy="4206240"/>
          </a:xfrm>
          <a:prstGeom prst="rect">
            <a:avLst/>
          </a:prstGeom>
          <a:solidFill>
            <a:srgbClr val="FFFFFF"/>
          </a:solidFill>
          <a:ln w="38100">
            <a:solidFill>
              <a:srgbClr val="1212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D32F2F"/>
                </a:solidFill>
              </a:defRPr>
            </a:pPr>
            <a:br/>
            <a:br/>
            <a:br/>
            <a:br/>
            <a:br/>
            <a:br/>
            <a:br/>
            <a:br/>
            <a:r>
              <a:t>SECURITY GUARD</a:t>
            </a:r>
          </a:p>
          <a:p>
            <a:pPr algn="ctr">
              <a:defRPr sz="2200" b="1">
                <a:solidFill>
                  <a:srgbClr val="121212"/>
                </a:solidFill>
              </a:defRPr>
            </a:pPr>
            <a:r>
              <a:t>Kuya Nard</a:t>
            </a:r>
          </a:p>
        </p:txBody>
      </p:sp>
      <p:pic>
        <p:nvPicPr>
          <p:cNvPr id="6" name="Picture 5" descr="kuya-n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2011680"/>
            <a:ext cx="2011680" cy="22860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3566160" y="1828800"/>
            <a:ext cx="2377440" cy="4206240"/>
          </a:xfrm>
          <a:prstGeom prst="rect">
            <a:avLst/>
          </a:prstGeom>
          <a:solidFill>
            <a:srgbClr val="FFFFFF"/>
          </a:solidFill>
          <a:ln w="38100">
            <a:solidFill>
              <a:srgbClr val="1212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D32F2F"/>
                </a:solidFill>
              </a:defRPr>
            </a:pPr>
            <a:br/>
            <a:br/>
            <a:br/>
            <a:br/>
            <a:br/>
            <a:br/>
            <a:br/>
            <a:br/>
            <a:r>
              <a:t>SECURITY GUARD</a:t>
            </a:r>
          </a:p>
          <a:p>
            <a:pPr algn="ctr">
              <a:defRPr sz="2200" b="1">
                <a:solidFill>
                  <a:srgbClr val="121212"/>
                </a:solidFill>
              </a:defRPr>
            </a:pPr>
            <a:r>
              <a:t>Kuya Julius</a:t>
            </a:r>
          </a:p>
        </p:txBody>
      </p:sp>
      <p:pic>
        <p:nvPicPr>
          <p:cNvPr id="8" name="Picture 7" descr="kuya-juliu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49040" y="2011680"/>
            <a:ext cx="2011680" cy="228600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6217920" y="1828800"/>
            <a:ext cx="2377440" cy="4206240"/>
          </a:xfrm>
          <a:prstGeom prst="rect">
            <a:avLst/>
          </a:prstGeom>
          <a:solidFill>
            <a:srgbClr val="FFFFFF"/>
          </a:solidFill>
          <a:ln w="38100">
            <a:solidFill>
              <a:srgbClr val="1212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D32F2F"/>
                </a:solidFill>
              </a:defRPr>
            </a:pPr>
            <a:br/>
            <a:br/>
            <a:br/>
            <a:br/>
            <a:br/>
            <a:br/>
            <a:br/>
            <a:br/>
            <a:r>
              <a:t>SECURITY GUARD</a:t>
            </a:r>
          </a:p>
          <a:p>
            <a:pPr algn="ctr">
              <a:defRPr sz="2200" b="1">
                <a:solidFill>
                  <a:srgbClr val="121212"/>
                </a:solidFill>
              </a:defRPr>
            </a:pPr>
            <a:r>
              <a:t>Ate Jen</a:t>
            </a:r>
          </a:p>
        </p:txBody>
      </p:sp>
      <p:pic>
        <p:nvPicPr>
          <p:cNvPr id="10" name="Picture 9" descr="ate-je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0" y="2011680"/>
            <a:ext cx="2011680" cy="228600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8869680" y="1828800"/>
            <a:ext cx="2377440" cy="4206240"/>
          </a:xfrm>
          <a:prstGeom prst="rect">
            <a:avLst/>
          </a:prstGeom>
          <a:solidFill>
            <a:srgbClr val="FFFFFF"/>
          </a:solidFill>
          <a:ln w="38100">
            <a:solidFill>
              <a:srgbClr val="1212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D32F2F"/>
                </a:solidFill>
              </a:defRPr>
            </a:pPr>
            <a:br/>
            <a:br/>
            <a:br/>
            <a:br/>
            <a:br/>
            <a:br/>
            <a:br/>
            <a:br/>
            <a:r>
              <a:t>SECURITY GUARD</a:t>
            </a:r>
          </a:p>
          <a:p>
            <a:pPr algn="ctr">
              <a:defRPr sz="2200" b="1">
                <a:solidFill>
                  <a:srgbClr val="121212"/>
                </a:solidFill>
              </a:defRPr>
            </a:pPr>
            <a:r>
              <a:t>Ate Joh</a:t>
            </a:r>
          </a:p>
        </p:txBody>
      </p:sp>
      <p:pic>
        <p:nvPicPr>
          <p:cNvPr id="12" name="Picture 11" descr="ate-joh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52560" y="2011680"/>
            <a:ext cx="2011680" cy="2286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C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457200"/>
            <a:ext cx="2560320" cy="411480"/>
          </a:xfrm>
          <a:prstGeom prst="rect">
            <a:avLst/>
          </a:prstGeom>
          <a:solidFill>
            <a:srgbClr val="D32F2F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103628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PLAN OF ACTIVITIES OVERVIEW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2011680"/>
            <a:ext cx="5029200" cy="1920240"/>
          </a:xfrm>
          <a:prstGeom prst="roundRect">
            <a:avLst/>
          </a:prstGeom>
          <a:solidFill>
            <a:srgbClr val="D32F2F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01  GA1 / AKWE</a:t>
            </a:r>
          </a:p>
          <a:p>
            <a:br/>
            <a:pPr>
              <a:defRPr sz="1600">
                <a:solidFill>
                  <a:srgbClr val="FBC02D"/>
                </a:solidFill>
              </a:defRPr>
            </a:pPr>
            <a:r>
              <a:t>Date: Aug 31 - Sep 4</a:t>
            </a:r>
          </a:p>
          <a:p>
            <a:pPr>
              <a:defRPr sz="1400">
                <a:solidFill>
                  <a:srgbClr val="FFFFFF"/>
                </a:solidFill>
              </a:defRPr>
            </a:pPr>
            <a:r>
              <a:t>Tag: SPIDER-MAN THEME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2011680"/>
            <a:ext cx="5029200" cy="1920240"/>
          </a:xfrm>
          <a:prstGeom prst="roundRect">
            <a:avLst/>
          </a:prstGeom>
          <a:solidFill>
            <a:srgbClr val="1E1E24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02  HALLOWEEN WEEK</a:t>
            </a:r>
          </a:p>
          <a:p>
            <a:br/>
            <a:pPr>
              <a:defRPr sz="1600">
                <a:solidFill>
                  <a:srgbClr val="FFFFFF"/>
                </a:solidFill>
              </a:defRPr>
            </a:pPr>
            <a:r>
              <a:t>Date: Oct 19 - Oct 23</a:t>
            </a:r>
          </a:p>
          <a:p>
            <a:pPr>
              <a:defRPr sz="1400">
                <a:solidFill>
                  <a:srgbClr val="FFFFFF"/>
                </a:solidFill>
              </a:defRPr>
            </a:pPr>
            <a:r>
              <a:t>Tag: HORROR THEME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4297680"/>
            <a:ext cx="5029200" cy="1920240"/>
          </a:xfrm>
          <a:prstGeom prst="roundRect">
            <a:avLst/>
          </a:prstGeom>
          <a:solidFill>
            <a:srgbClr val="D32F2F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03  GA2 / YEAR-END</a:t>
            </a:r>
          </a:p>
          <a:p>
            <a:br/>
            <a:pPr>
              <a:defRPr sz="1600">
                <a:solidFill>
                  <a:srgbClr val="FBC02D"/>
                </a:solidFill>
              </a:defRPr>
            </a:pPr>
            <a:r>
              <a:t>Date: End of Semester</a:t>
            </a:r>
          </a:p>
          <a:p>
            <a:pPr>
              <a:defRPr sz="1400">
                <a:solidFill>
                  <a:srgbClr val="FFFFFF"/>
                </a:solidFill>
              </a:defRPr>
            </a:pPr>
            <a:r>
              <a:t>Tag: CELEBRATION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4297680"/>
            <a:ext cx="5029200" cy="1920240"/>
          </a:xfrm>
          <a:prstGeom prst="roundRect">
            <a:avLst/>
          </a:prstGeom>
          <a:solidFill>
            <a:srgbClr val="1E1E24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04  ADDITIONAL EVENTS</a:t>
            </a:r>
          </a:p>
          <a:p>
            <a:br/>
            <a:pPr>
              <a:defRPr sz="1600">
                <a:solidFill>
                  <a:srgbClr val="FFFFFF"/>
                </a:solidFill>
              </a:defRPr>
            </a:pPr>
            <a:r>
              <a:t>Date: Semester-Long</a:t>
            </a:r>
          </a:p>
          <a:p>
            <a:pPr>
              <a:defRPr sz="1400">
                <a:solidFill>
                  <a:srgbClr val="FFFFFF"/>
                </a:solidFill>
              </a:defRPr>
            </a:pPr>
            <a:r>
              <a:t>Tag: SPECIAL PROJECTS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C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457200"/>
            <a:ext cx="2560320" cy="411480"/>
          </a:xfrm>
          <a:prstGeom prst="rect">
            <a:avLst/>
          </a:prstGeom>
          <a:solidFill>
            <a:srgbClr val="D32F2F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EVENT 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103628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GA1 / AKWE: DETAILS &amp; DECOR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828800"/>
            <a:ext cx="10362895" cy="4389120"/>
          </a:xfrm>
          <a:prstGeom prst="rect">
            <a:avLst/>
          </a:prstGeom>
          <a:solidFill>
            <a:srgbClr val="FFFFFF"/>
          </a:solidFill>
          <a:ln w="38100">
            <a:solidFill>
              <a:srgbClr val="1212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D32F2F"/>
                </a:solidFill>
              </a:defRPr>
            </a:pPr>
            <a:r>
              <a:t>EVENT METADATA</a:t>
            </a:r>
          </a:p>
          <a:p>
            <a:pPr>
              <a:defRPr sz="1800">
                <a:solidFill>
                  <a:srgbClr val="121212"/>
                </a:solidFill>
              </a:defRPr>
            </a:pPr>
            <a:r>
              <a:t>• Event Head: Ash</a:t>
            </a:r>
          </a:p>
          <a:p>
            <a:pPr>
              <a:defRPr sz="1800">
                <a:solidFill>
                  <a:srgbClr val="121212"/>
                </a:solidFill>
              </a:defRPr>
            </a:pPr>
            <a:r>
              <a:t>• Target Window: August 31 to September 4 (Poll deadline Aug 31; choices Sept 1-3)</a:t>
            </a:r>
          </a:p>
          <a:p>
            <a:pPr>
              <a:defRPr sz="1800" b="1">
                <a:solidFill>
                  <a:srgbClr val="D32F2F"/>
                </a:solidFill>
              </a:defRPr>
            </a:pPr>
            <a:r>
              <a:t>• Design Theme: Spider-Man</a:t>
            </a:r>
          </a:p>
          <a:p>
            <a:br/>
            <a:pPr>
              <a:defRPr sz="2000" b="1">
                <a:solidFill>
                  <a:srgbClr val="D32F2F"/>
                </a:solidFill>
              </a:defRPr>
            </a:pPr>
            <a:r>
              <a:t>VENUE DECOR &amp; MATERIALS</a:t>
            </a:r>
          </a:p>
          <a:p>
            <a:pPr>
              <a:defRPr sz="1800">
                <a:solidFill>
                  <a:srgbClr val="121212"/>
                </a:solidFill>
              </a:defRPr>
            </a:pPr>
            <a:r>
              <a:t>• Banderitas: Red, blue, white, and black crepe paper theme.</a:t>
            </a:r>
          </a:p>
          <a:p>
            <a:pPr>
              <a:defRPr sz="1800">
                <a:solidFill>
                  <a:srgbClr val="121212"/>
                </a:solidFill>
              </a:defRPr>
            </a:pPr>
            <a:r>
              <a:t>• Web Designs: White yarn webs across venue (reusable for Halloween).</a:t>
            </a:r>
          </a:p>
          <a:p>
            <a:pPr>
              <a:defRPr sz="1800">
                <a:solidFill>
                  <a:srgbClr val="121212"/>
                </a:solidFill>
              </a:defRPr>
            </a:pPr>
            <a:r>
              <a:t>• Accents &amp; Photo-booth: Spider-Man printouts taped with banderitas + photo setup.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C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457200"/>
            <a:ext cx="2560320" cy="411480"/>
          </a:xfrm>
          <a:prstGeom prst="rect">
            <a:avLst/>
          </a:prstGeom>
          <a:solidFill>
            <a:srgbClr val="D32F2F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GA1 FEATURE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103628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INTERACTIVE BULLETIN BOARD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828800"/>
            <a:ext cx="10362895" cy="1645920"/>
          </a:xfrm>
          <a:prstGeom prst="rect">
            <a:avLst/>
          </a:prstGeom>
          <a:solidFill>
            <a:srgbClr val="D32F2F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BC02D"/>
                </a:solidFill>
              </a:defRPr>
            </a:pPr>
            <a:r>
              <a:t>BOARD PROMPT: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"If you were to be forgotten by everyone, what will be the first thing that you will do?"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3749039"/>
            <a:ext cx="10362895" cy="2468880"/>
          </a:xfrm>
          <a:prstGeom prst="rect">
            <a:avLst/>
          </a:prstGeom>
          <a:solidFill>
            <a:srgbClr val="FFFFFF"/>
          </a:solidFill>
          <a:ln w="38100">
            <a:solidFill>
              <a:srgbClr val="1212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121212"/>
                </a:solidFill>
              </a:defRPr>
            </a:pPr>
            <a:r>
              <a:t>EXECUTION &amp; INCENTIVES</a:t>
            </a:r>
          </a:p>
          <a:p>
            <a:pPr>
              <a:defRPr sz="1800">
                <a:solidFill>
                  <a:srgbClr val="121212"/>
                </a:solidFill>
              </a:defRPr>
            </a:pPr>
            <a:r>
              <a:t>• Materials: Masking tape, bond paper squares, markers.</a:t>
            </a:r>
          </a:p>
          <a:p>
            <a:pPr>
              <a:defRPr sz="1800" b="1">
                <a:solidFill>
                  <a:srgbClr val="D32F2F"/>
                </a:solidFill>
              </a:defRPr>
            </a:pPr>
            <a:r>
              <a:t>• Dormer Incentive: Free candies provided!</a:t>
            </a:r>
          </a:p>
          <a:p>
            <a:pPr>
              <a:defRPr sz="1800">
                <a:solidFill>
                  <a:srgbClr val="121212"/>
                </a:solidFill>
              </a:defRPr>
            </a:pPr>
            <a:r>
              <a:t>• Process: Dormers answer the prompt on paper squares as they fall in line for GA registration.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C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457200"/>
            <a:ext cx="2560320" cy="411480"/>
          </a:xfrm>
          <a:prstGeom prst="rect">
            <a:avLst/>
          </a:prstGeom>
          <a:solidFill>
            <a:srgbClr val="D32F2F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GA1 PROGRAM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103628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PROGRAM &amp; ACQUAINTANCE PARTY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828800"/>
            <a:ext cx="4937760" cy="4389120"/>
          </a:xfrm>
          <a:prstGeom prst="rect">
            <a:avLst/>
          </a:prstGeom>
          <a:solidFill>
            <a:srgbClr val="FFFFFF"/>
          </a:solidFill>
          <a:ln w="38100">
            <a:solidFill>
              <a:srgbClr val="1212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D32F2F"/>
                </a:solidFill>
              </a:defRPr>
            </a:pPr>
            <a:r>
              <a:t>GA PROGRAM FLOW</a:t>
            </a:r>
          </a:p>
          <a:p>
            <a:br/>
            <a:pPr>
              <a:defRPr sz="1800">
                <a:solidFill>
                  <a:srgbClr val="121212"/>
                </a:solidFill>
              </a:defRPr>
            </a:pPr>
            <a:r>
              <a:t>• Welcoming Remarks</a:t>
            </a:r>
          </a:p>
          <a:p>
            <a:pPr>
              <a:defRPr sz="1800">
                <a:solidFill>
                  <a:srgbClr val="121212"/>
                </a:solidFill>
              </a:defRPr>
            </a:pPr>
            <a:r>
              <a:t>• Special Performer</a:t>
            </a:r>
          </a:p>
          <a:p>
            <a:pPr>
              <a:defRPr sz="1800">
                <a:solidFill>
                  <a:srgbClr val="121212"/>
                </a:solidFill>
              </a:defRPr>
            </a:pPr>
            <a:r>
              <a:t>• Interactive Game (Hero/Spider-Man)</a:t>
            </a:r>
          </a:p>
          <a:p>
            <a:pPr>
              <a:defRPr sz="1800">
                <a:solidFill>
                  <a:srgbClr val="121212"/>
                </a:solidFill>
              </a:defRPr>
            </a:pPr>
            <a:r>
              <a:t>• Presentation Deck Walkthrough</a:t>
            </a:r>
          </a:p>
        </p:txBody>
      </p:sp>
      <p:sp>
        <p:nvSpPr>
          <p:cNvPr id="6" name="Rectangle 5"/>
          <p:cNvSpPr/>
          <p:nvPr/>
        </p:nvSpPr>
        <p:spPr>
          <a:xfrm>
            <a:off x="6309360" y="1828800"/>
            <a:ext cx="4937760" cy="4389120"/>
          </a:xfrm>
          <a:prstGeom prst="rect">
            <a:avLst/>
          </a:prstGeom>
          <a:solidFill>
            <a:srgbClr val="FFFFFF"/>
          </a:solidFill>
          <a:ln w="38100">
            <a:solidFill>
              <a:srgbClr val="1212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D32F2F"/>
                </a:solidFill>
              </a:defRPr>
            </a:pPr>
            <a:r>
              <a:t>PARTY GAMES &amp; PRIZES</a:t>
            </a:r>
          </a:p>
          <a:p>
            <a:br/>
            <a:pPr>
              <a:defRPr sz="1800" b="1">
                <a:solidFill>
                  <a:srgbClr val="121212"/>
                </a:solidFill>
              </a:defRPr>
            </a:pPr>
            <a:r>
              <a:t>Games:</a:t>
            </a:r>
          </a:p>
          <a:p>
            <a:pPr>
              <a:defRPr sz="1600">
                <a:solidFill>
                  <a:srgbClr val="121212"/>
                </a:solidFill>
              </a:defRPr>
            </a:pPr>
            <a:r>
              <a:t>  - Animal Sounds Team Finder</a:t>
            </a:r>
          </a:p>
          <a:p>
            <a:pPr>
              <a:defRPr sz="1600">
                <a:solidFill>
                  <a:srgbClr val="121212"/>
                </a:solidFill>
              </a:defRPr>
            </a:pPr>
            <a:r>
              <a:t>  - Balloon Pop</a:t>
            </a:r>
          </a:p>
          <a:p>
            <a:pPr>
              <a:defRPr sz="1600">
                <a:solidFill>
                  <a:srgbClr val="121212"/>
                </a:solidFill>
              </a:defRPr>
            </a:pPr>
            <a:r>
              <a:t>  - Charades Relay</a:t>
            </a:r>
          </a:p>
          <a:p>
            <a:pPr>
              <a:defRPr sz="1600">
                <a:solidFill>
                  <a:srgbClr val="121212"/>
                </a:solidFill>
              </a:defRPr>
            </a:pPr>
            <a:r>
              <a:t>  - 1-2-3 Go Game</a:t>
            </a:r>
          </a:p>
          <a:p>
            <a:br/>
            <a:pPr>
              <a:defRPr sz="1800" b="1">
                <a:solidFill>
                  <a:srgbClr val="121212"/>
                </a:solidFill>
              </a:defRPr>
            </a:pPr>
            <a:r>
              <a:t>Prizes:</a:t>
            </a:r>
          </a:p>
          <a:p>
            <a:pPr>
              <a:defRPr sz="1600">
                <a:solidFill>
                  <a:srgbClr val="121212"/>
                </a:solidFill>
              </a:defRPr>
            </a:pPr>
            <a:r>
              <a:t>  - Candy, Tsitsirya (snacks)</a:t>
            </a:r>
          </a:p>
          <a:p>
            <a:pPr>
              <a:defRPr sz="1600">
                <a:solidFill>
                  <a:srgbClr val="121212"/>
                </a:solidFill>
              </a:defRPr>
            </a:pPr>
            <a:r>
              <a:t>  - Dorm Essentials (noodles, panlaba, canned goods)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C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457200"/>
            <a:ext cx="2560320" cy="411480"/>
          </a:xfrm>
          <a:prstGeom prst="rect">
            <a:avLst/>
          </a:prstGeom>
          <a:solidFill>
            <a:srgbClr val="D32F2F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EVENT 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103628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HALLOWEEN PARTY WEEK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828800"/>
            <a:ext cx="10362895" cy="4389120"/>
          </a:xfrm>
          <a:prstGeom prst="rect">
            <a:avLst/>
          </a:prstGeom>
          <a:solidFill>
            <a:srgbClr val="FFFFFF"/>
          </a:solidFill>
          <a:ln w="38100">
            <a:solidFill>
              <a:srgbClr val="1212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D32F2F"/>
                </a:solidFill>
              </a:defRPr>
            </a:pPr>
            <a:r>
              <a:t>DATE: October 19 - October 23   |   THEME: Horror</a:t>
            </a:r>
          </a:p>
          <a:p>
            <a:br/>
            <a:pPr>
              <a:defRPr sz="1800" b="1">
                <a:solidFill>
                  <a:srgbClr val="121212"/>
                </a:solidFill>
              </a:defRPr>
            </a:pPr>
            <a:r>
              <a:t>SAMPA-SPECIFIC ACTIVITIES:</a:t>
            </a:r>
          </a:p>
          <a:p>
            <a:pPr>
              <a:defRPr sz="1700">
                <a:solidFill>
                  <a:srgbClr val="121212"/>
                </a:solidFill>
              </a:defRPr>
            </a:pPr>
            <a:r>
              <a:t>• Interactive Bulletin Board: Prompt: "What's your horror story?"</a:t>
            </a:r>
          </a:p>
          <a:p>
            <a:pPr>
              <a:defRPr sz="1700">
                <a:solidFill>
                  <a:srgbClr val="121212"/>
                </a:solidFill>
              </a:defRPr>
            </a:pPr>
            <a:r>
              <a:t>• Outdoors Movie Night: Open-air film screening</a:t>
            </a:r>
          </a:p>
          <a:p>
            <a:pPr>
              <a:defRPr sz="1700">
                <a:solidFill>
                  <a:srgbClr val="121212"/>
                </a:solidFill>
              </a:defRPr>
            </a:pPr>
            <a:r>
              <a:t>• Open House &amp; Collaboration: Possible Sampa x Kamia Halloween Night collaboration</a:t>
            </a:r>
          </a:p>
          <a:p>
            <a:pPr>
              <a:defRPr sz="1700">
                <a:solidFill>
                  <a:srgbClr val="121212"/>
                </a:solidFill>
              </a:defRPr>
            </a:pPr>
            <a:r>
              <a:t>• Design-Your-Own-Room / Corridor Contest: Spookiest room decor competition</a:t>
            </a:r>
          </a:p>
          <a:p>
            <a:pPr>
              <a:defRPr sz="1700">
                <a:solidFill>
                  <a:srgbClr val="121212"/>
                </a:solidFill>
              </a:defRPr>
            </a:pPr>
            <a:r>
              <a:t>• Photobooth &amp; Performers: Dedicated photo setup and live entertainment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C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457200"/>
            <a:ext cx="2560320" cy="411480"/>
          </a:xfrm>
          <a:prstGeom prst="rect">
            <a:avLst/>
          </a:prstGeom>
          <a:solidFill>
            <a:srgbClr val="D32F2F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EVENT 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103628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GA2 / YEAR-END PARTY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828800"/>
            <a:ext cx="10362895" cy="4389120"/>
          </a:xfrm>
          <a:prstGeom prst="rect">
            <a:avLst/>
          </a:prstGeom>
          <a:solidFill>
            <a:srgbClr val="FFFFFF"/>
          </a:solidFill>
          <a:ln w="38100">
            <a:solidFill>
              <a:srgbClr val="1212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D32F2F"/>
                </a:solidFill>
              </a:defRPr>
            </a:pPr>
            <a:r>
              <a:t>DATE: End of Semester   |   THEME: Year-End Celebration</a:t>
            </a:r>
          </a:p>
          <a:p>
            <a:br/>
            <a:pPr>
              <a:defRPr sz="1800" b="1">
                <a:solidFill>
                  <a:srgbClr val="121212"/>
                </a:solidFill>
              </a:defRPr>
            </a:pPr>
            <a:r>
              <a:t>PLANNED HIGHLIGHTS:</a:t>
            </a:r>
          </a:p>
          <a:p>
            <a:pPr>
              <a:defRPr sz="1800">
                <a:solidFill>
                  <a:srgbClr val="121212"/>
                </a:solidFill>
              </a:defRPr>
            </a:pPr>
            <a:r>
              <a:t>• Low-Cost Exchange Gift: White Elephant style gift swap</a:t>
            </a:r>
          </a:p>
          <a:p>
            <a:pPr>
              <a:defRPr sz="1800">
                <a:solidFill>
                  <a:srgbClr val="121212"/>
                </a:solidFill>
              </a:defRPr>
            </a:pPr>
            <a:r>
              <a:t>• Bingo Night: Classic dorm bingo with prizes</a:t>
            </a:r>
          </a:p>
          <a:p>
            <a:pPr>
              <a:defRPr sz="1800">
                <a:solidFill>
                  <a:srgbClr val="121212"/>
                </a:solidFill>
              </a:defRPr>
            </a:pPr>
            <a:r>
              <a:t>• Year-End Assembly: Wrap-up celebration &amp; recognition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C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457200"/>
            <a:ext cx="2560320" cy="411480"/>
          </a:xfrm>
          <a:prstGeom prst="rect">
            <a:avLst/>
          </a:prstGeom>
          <a:solidFill>
            <a:srgbClr val="D32F2F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SPECIAL EVENTS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103628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POSSIBLE ADDITIONAL EVENTS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828800"/>
            <a:ext cx="4937760" cy="4389120"/>
          </a:xfrm>
          <a:prstGeom prst="rect">
            <a:avLst/>
          </a:prstGeom>
          <a:solidFill>
            <a:srgbClr val="FFFFFF"/>
          </a:solidFill>
          <a:ln w="38100">
            <a:solidFill>
              <a:srgbClr val="1212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D32F2F"/>
                </a:solidFill>
              </a:defRPr>
            </a:pPr>
            <a:r>
              <a:t>MENTAL HEALTH WEEK</a:t>
            </a:r>
          </a:p>
          <a:p>
            <a:pPr>
              <a:defRPr sz="1600" b="1">
                <a:solidFill>
                  <a:srgbClr val="121212"/>
                </a:solidFill>
              </a:defRPr>
            </a:pPr>
            <a:r>
              <a:t>Theme: Mental Health &amp; The Arts</a:t>
            </a:r>
          </a:p>
          <a:p>
            <a:br/>
            <a:pPr>
              <a:defRPr sz="1700">
                <a:solidFill>
                  <a:srgbClr val="121212"/>
                </a:solidFill>
              </a:defRPr>
            </a:pPr>
            <a:r>
              <a:t>• Big canvas-style bulletin board</a:t>
            </a:r>
          </a:p>
          <a:p>
            <a:pPr>
              <a:defRPr sz="1700">
                <a:solidFill>
                  <a:srgbClr val="121212"/>
                </a:solidFill>
              </a:defRPr>
            </a:pPr>
            <a:r>
              <a:t>• Chalk Art activity zone</a:t>
            </a:r>
          </a:p>
          <a:p>
            <a:pPr>
              <a:defRPr sz="1700">
                <a:solidFill>
                  <a:srgbClr val="121212"/>
                </a:solidFill>
              </a:defRPr>
            </a:pPr>
            <a:r>
              <a:t>• Coloring pages &amp; creative crafts</a:t>
            </a:r>
          </a:p>
        </p:txBody>
      </p:sp>
      <p:sp>
        <p:nvSpPr>
          <p:cNvPr id="6" name="Rectangle 5"/>
          <p:cNvSpPr/>
          <p:nvPr/>
        </p:nvSpPr>
        <p:spPr>
          <a:xfrm>
            <a:off x="6309360" y="1828800"/>
            <a:ext cx="4937760" cy="4389120"/>
          </a:xfrm>
          <a:prstGeom prst="rect">
            <a:avLst/>
          </a:prstGeom>
          <a:solidFill>
            <a:srgbClr val="FFFFFF"/>
          </a:solidFill>
          <a:ln w="38100">
            <a:solidFill>
              <a:srgbClr val="1212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D32F2F"/>
                </a:solidFill>
              </a:defRPr>
            </a:pPr>
            <a:r>
              <a:t>GAME NIGHTS</a:t>
            </a:r>
          </a:p>
          <a:p>
            <a:pPr>
              <a:defRPr sz="1600" b="1">
                <a:solidFill>
                  <a:srgbClr val="121212"/>
                </a:solidFill>
              </a:defRPr>
            </a:pPr>
            <a:r>
              <a:t>Concept: Corridor Wars</a:t>
            </a:r>
          </a:p>
          <a:p>
            <a:br/>
            <a:pPr>
              <a:defRPr sz="1700">
                <a:solidFill>
                  <a:srgbClr val="121212"/>
                </a:solidFill>
              </a:defRPr>
            </a:pPr>
            <a:r>
              <a:t>• Tournament Style weekly game nights</a:t>
            </a:r>
          </a:p>
          <a:p>
            <a:pPr>
              <a:defRPr sz="1700">
                <a:solidFill>
                  <a:srgbClr val="121212"/>
                </a:solidFill>
              </a:defRPr>
            </a:pPr>
            <a:r>
              <a:t>• Corridor/Floor competitive format</a:t>
            </a:r>
          </a:p>
          <a:p>
            <a:pPr>
              <a:defRPr sz="1700">
                <a:solidFill>
                  <a:srgbClr val="121212"/>
                </a:solidFill>
              </a:defRPr>
            </a:pPr>
            <a:r>
              <a:t>• Cumulative prize at end of month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C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457200"/>
            <a:ext cx="2560320" cy="411480"/>
          </a:xfrm>
          <a:prstGeom prst="rect">
            <a:avLst/>
          </a:prstGeom>
          <a:solidFill>
            <a:srgbClr val="D32F2F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DORM GUIDELINES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103628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DAY TO DAY LIVING REMINDERS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828800"/>
            <a:ext cx="4937760" cy="4389120"/>
          </a:xfrm>
          <a:prstGeom prst="rect">
            <a:avLst/>
          </a:prstGeom>
          <a:solidFill>
            <a:srgbClr val="FFFFFF"/>
          </a:solidFill>
          <a:ln w="38100">
            <a:solidFill>
              <a:srgbClr val="1212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D32F2F"/>
                </a:solidFill>
              </a:defRPr>
            </a:pPr>
            <a:r>
              <a:t>ELECTRICAL DECLARATION</a:t>
            </a:r>
          </a:p>
          <a:p>
            <a:br/>
            <a:pPr>
              <a:defRPr sz="1600">
                <a:solidFill>
                  <a:srgbClr val="121212"/>
                </a:solidFill>
              </a:defRPr>
            </a:pPr>
            <a:r>
              <a:t>Declare all brought electrical items:</a:t>
            </a:r>
          </a:p>
          <a:p>
            <a:pPr>
              <a:defRPr sz="1600">
                <a:solidFill>
                  <a:srgbClr val="121212"/>
                </a:solidFill>
              </a:defRPr>
            </a:pPr>
            <a:r>
              <a:t>  • Electric Fans &amp; Desk Lamps</a:t>
            </a:r>
          </a:p>
          <a:p>
            <a:pPr>
              <a:defRPr sz="1600">
                <a:solidFill>
                  <a:srgbClr val="121212"/>
                </a:solidFill>
              </a:defRPr>
            </a:pPr>
            <a:r>
              <a:t>  • Laptops, Desktops, Printers</a:t>
            </a:r>
          </a:p>
          <a:p>
            <a:pPr>
              <a:defRPr sz="1600">
                <a:solidFill>
                  <a:srgbClr val="121212"/>
                </a:solidFill>
              </a:defRPr>
            </a:pPr>
            <a:r>
              <a:t>  • Cellphones &amp; Tablets</a:t>
            </a:r>
          </a:p>
        </p:txBody>
      </p:sp>
      <p:sp>
        <p:nvSpPr>
          <p:cNvPr id="6" name="Rectangle 5"/>
          <p:cNvSpPr/>
          <p:nvPr/>
        </p:nvSpPr>
        <p:spPr>
          <a:xfrm>
            <a:off x="6309360" y="1828800"/>
            <a:ext cx="4937760" cy="4389120"/>
          </a:xfrm>
          <a:prstGeom prst="rect">
            <a:avLst/>
          </a:prstGeom>
          <a:solidFill>
            <a:srgbClr val="FFFFFF"/>
          </a:solidFill>
          <a:ln w="38100">
            <a:solidFill>
              <a:srgbClr val="1212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D32F2F"/>
                </a:solidFill>
              </a:defRPr>
            </a:pPr>
            <a:r>
              <a:t>STUDY &amp; COMMON AREAS</a:t>
            </a:r>
          </a:p>
          <a:p>
            <a:br/>
            <a:pPr>
              <a:defRPr sz="1600">
                <a:solidFill>
                  <a:srgbClr val="121212"/>
                </a:solidFill>
              </a:defRPr>
            </a:pPr>
            <a:r>
              <a:t>• Meals in study area discouraged; light snacks allowed.</a:t>
            </a:r>
          </a:p>
          <a:p>
            <a:br/>
            <a:pPr>
              <a:defRPr sz="1600">
                <a:solidFill>
                  <a:srgbClr val="121212"/>
                </a:solidFill>
              </a:defRPr>
            </a:pPr>
            <a:r>
              <a:t>• Observe strict cleanliness at all times.</a:t>
            </a:r>
          </a:p>
          <a:p>
            <a:br/>
            <a:pPr>
              <a:defRPr sz="1600">
                <a:solidFill>
                  <a:srgbClr val="121212"/>
                </a:solidFill>
              </a:defRPr>
            </a:pPr>
            <a:r>
              <a:t>• Be mindful of gadgets &amp; valuable personal belongings.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C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457200"/>
            <a:ext cx="2560320" cy="411480"/>
          </a:xfrm>
          <a:prstGeom prst="rect">
            <a:avLst/>
          </a:prstGeom>
          <a:solidFill>
            <a:srgbClr val="D32F2F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ACTION ITEMS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103628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NEXT STEPS &amp; POLL DEADLINE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828800"/>
            <a:ext cx="10362895" cy="4389120"/>
          </a:xfrm>
          <a:prstGeom prst="rect">
            <a:avLst/>
          </a:prstGeom>
          <a:solidFill>
            <a:srgbClr val="FFFFFF"/>
          </a:solidFill>
          <a:ln w="38100">
            <a:solidFill>
              <a:srgbClr val="1212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D32F2F"/>
                </a:solidFill>
              </a:defRPr>
            </a:pPr>
            <a:r>
              <a:t>IMMEDIATE ACTION ITEMS:</a:t>
            </a:r>
          </a:p>
          <a:p>
            <a:pPr>
              <a:defRPr sz="1800">
                <a:solidFill>
                  <a:srgbClr val="121212"/>
                </a:solidFill>
              </a:defRPr>
            </a:pPr>
            <a:r>
              <a:t>1. GA1 Date Poll: Deadline August 31 (Choices: Sept 1-3).</a:t>
            </a:r>
          </a:p>
          <a:p>
            <a:pPr>
              <a:defRPr sz="1800">
                <a:solidFill>
                  <a:srgbClr val="121212"/>
                </a:solidFill>
              </a:defRPr>
            </a:pPr>
            <a:r>
              <a:t>2. Material Sourcing: Crepe paper, yarn, tape, and printouts.</a:t>
            </a:r>
          </a:p>
          <a:p>
            <a:pPr>
              <a:defRPr sz="1800">
                <a:solidFill>
                  <a:srgbClr val="121212"/>
                </a:solidFill>
              </a:defRPr>
            </a:pPr>
            <a:r>
              <a:t>3. Prize Procurement: Candy, snacks, and dorm essentials.</a:t>
            </a:r>
          </a:p>
          <a:p>
            <a:br/>
            <a:pPr algn="ctr">
              <a:defRPr sz="2200" b="1">
                <a:solidFill>
                  <a:srgbClr val="D32F2F"/>
                </a:solidFill>
              </a:defRPr>
            </a:pPr>
            <a:r>
              <a:t>OPEN FLOOR FOR QUESTIONS &amp; SUGGESTIONS!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